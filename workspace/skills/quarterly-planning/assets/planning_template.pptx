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529B"/>
                </a:solidFill>
              </a:defRPr>
            </a:pPr>
            <a:r>
              <a:t>【项目名称】季度立项规划报告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D6"/>
                </a:solidFill>
              </a:defRPr>
            </a:pPr>
            <a:r>
              <a:t>202X年第X季度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PO：【姓名】</a:t>
            </a:r>
          </a:p>
          <a:p>
            <a:r>
              <a:t>日期：202X年XX月XX日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1. 季度目标与策略</a:t>
            </a:r>
          </a:p>
          <a:p>
            <a:pPr>
              <a:spcBef>
                <a:spcPts val="2000"/>
              </a:spcBef>
              <a:defRPr sz="2400">
                <a:solidFill>
                  <a:srgbClr val="333333"/>
                </a:solidFill>
              </a:defRPr>
            </a:pPr>
            <a:r>
              <a:t>2. 特性规划</a:t>
            </a:r>
          </a:p>
          <a:p>
            <a:pPr>
              <a:spcBef>
                <a:spcPts val="2000"/>
              </a:spcBef>
              <a:defRPr sz="2400">
                <a:solidFill>
                  <a:srgbClr val="333333"/>
                </a:solidFill>
              </a:defRPr>
            </a:pPr>
            <a:r>
              <a:t>3. 资源与负荷分析</a:t>
            </a:r>
          </a:p>
          <a:p>
            <a:pPr>
              <a:spcBef>
                <a:spcPts val="2000"/>
              </a:spcBef>
              <a:defRPr sz="2400">
                <a:solidFill>
                  <a:srgbClr val="333333"/>
                </a:solidFill>
              </a:defRPr>
            </a:pPr>
            <a:r>
              <a:t>4. 里程碑与关键节点</a:t>
            </a:r>
          </a:p>
          <a:p>
            <a:pPr>
              <a:spcBef>
                <a:spcPts val="2000"/>
              </a:spcBef>
              <a:defRPr sz="2400">
                <a:solidFill>
                  <a:srgbClr val="333333"/>
                </a:solidFill>
              </a:defRPr>
            </a:pPr>
            <a:r>
              <a:t>5. 风险与应对措施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</a:defRPr>
            </a:pPr>
            <a:r>
              <a:t>1. 季度目标与策略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季度目标：</a:t>
            </a:r>
          </a:p>
          <a:p>
            <a:pPr>
              <a:spcBef>
                <a:spcPts val="1200"/>
              </a:spcBef>
              <a:defRPr sz="2000"/>
            </a:pPr>
            <a:r>
              <a:t>• 【在此填写季度主要业务目标】</a:t>
            </a:r>
          </a:p>
          <a:p>
            <a:pPr>
              <a:spcBef>
                <a:spcPts val="800"/>
              </a:spcBef>
              <a:defRPr sz="2000"/>
            </a:pPr>
            <a:r>
              <a:t>• 【例如：完成XX功能上线，提升用户体验】</a:t>
            </a:r>
          </a:p>
          <a:p>
            <a:br/>
            <a:pPr>
              <a:spcBef>
                <a:spcPts val="2000"/>
              </a:spcBef>
              <a:defRPr sz="2200" b="1"/>
            </a:pPr>
            <a:r>
              <a:t>策略重点：</a:t>
            </a:r>
          </a:p>
          <a:p>
            <a:pPr>
              <a:spcBef>
                <a:spcPts val="1200"/>
              </a:spcBef>
              <a:defRPr sz="2000"/>
            </a:pPr>
            <a:r>
              <a:t>• 【策略1：例如聚焦核心业务功能】</a:t>
            </a:r>
          </a:p>
          <a:p>
            <a:pPr>
              <a:spcBef>
                <a:spcPts val="800"/>
              </a:spcBef>
              <a:defRPr sz="2000"/>
            </a:pPr>
            <a:r>
              <a:t>• 【策略2：例如技术债务清理】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</a:defRPr>
            </a:pPr>
            <a:r>
              <a:t>2. 特性规划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本季度立项特性清单（按优先级排序）：</a:t>
            </a:r>
          </a:p>
          <a:p>
            <a:br/>
            <a:pPr>
              <a:spcBef>
                <a:spcPts val="1500"/>
              </a:spcBef>
              <a:defRPr sz="1800"/>
            </a:pPr>
            <a:r>
              <a:t>【在此插入特性表格，包含：】</a:t>
            </a:r>
          </a:p>
          <a:p>
            <a:pPr>
              <a:spcBef>
                <a:spcPts val="600"/>
              </a:spcBef>
              <a:defRPr sz="1800"/>
            </a:pPr>
            <a:r>
              <a:t>• 序号、特性名称、优先级（Must/Should/Could）</a:t>
            </a:r>
          </a:p>
          <a:p>
            <a:pPr>
              <a:spcBef>
                <a:spcPts val="600"/>
              </a:spcBef>
              <a:defRPr sz="1800"/>
            </a:pPr>
            <a:r>
              <a:t>• 业务价值、技术复杂度、预计人天</a:t>
            </a:r>
          </a:p>
          <a:p>
            <a:pPr>
              <a:spcBef>
                <a:spcPts val="600"/>
              </a:spcBef>
              <a:defRPr sz="1800"/>
            </a:pPr>
            <a:r>
              <a:t>• 负责人、依赖关系、风险等级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</a:defRPr>
            </a:pPr>
            <a:r>
              <a:t>3. 资源与负荷分析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资源情况：</a:t>
            </a:r>
          </a:p>
          <a:p>
            <a:pPr>
              <a:spcBef>
                <a:spcPts val="1000"/>
              </a:spcBef>
              <a:defRPr sz="1800"/>
            </a:pPr>
            <a:r>
              <a:t>• 季度工作日：【XX】天</a:t>
            </a:r>
          </a:p>
          <a:p>
            <a:pPr>
              <a:spcBef>
                <a:spcPts val="1000"/>
              </a:spcBef>
              <a:defRPr sz="1800"/>
            </a:pPr>
            <a:r>
              <a:t>• 开发人员系数：【X.X】</a:t>
            </a:r>
          </a:p>
          <a:p>
            <a:pPr>
              <a:spcBef>
                <a:spcPts val="1000"/>
              </a:spcBef>
              <a:defRPr sz="1800"/>
            </a:pPr>
            <a:r>
              <a:t>• 测试人员系数：【X.X】</a:t>
            </a:r>
          </a:p>
          <a:p>
            <a:pPr>
              <a:spcBef>
                <a:spcPts val="1000"/>
              </a:spcBef>
              <a:defRPr sz="1800"/>
            </a:pPr>
            <a:r>
              <a:t>• 产品人员系数：【X.X】</a:t>
            </a:r>
          </a:p>
          <a:p>
            <a:pPr>
              <a:spcBef>
                <a:spcPts val="1000"/>
              </a:spcBef>
              <a:defRPr sz="1800"/>
            </a:pPr>
            <a:r>
              <a:t>• 系数总和：【X.X】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负荷分析：</a:t>
            </a:r>
          </a:p>
          <a:p>
            <a:pPr>
              <a:spcBef>
                <a:spcPts val="1000"/>
              </a:spcBef>
              <a:defRPr sz="1800"/>
            </a:pPr>
            <a:r>
              <a:t>• 总可用产能：【XXX】人天</a:t>
            </a:r>
          </a:p>
          <a:p>
            <a:pPr>
              <a:spcBef>
                <a:spcPts val="1000"/>
              </a:spcBef>
              <a:defRPr sz="1800"/>
            </a:pPr>
            <a:r>
              <a:t>• 计划人天：【XXX】人天</a:t>
            </a:r>
          </a:p>
          <a:p>
            <a:pPr>
              <a:spcBef>
                <a:spcPts val="1000"/>
              </a:spcBef>
              <a:defRPr sz="1800"/>
            </a:pPr>
            <a:r>
              <a:t>• 负荷率：【XX%】</a:t>
            </a:r>
          </a:p>
          <a:p>
            <a:pPr>
              <a:spcBef>
                <a:spcPts val="1000"/>
              </a:spcBef>
              <a:defRPr sz="1800"/>
            </a:pPr>
            <a:r>
              <a:t>• 评估结果：【合理/偏高/偏低】</a:t>
            </a:r>
          </a:p>
          <a:p>
            <a:pPr>
              <a:spcBef>
                <a:spcPts val="1000"/>
              </a:spcBef>
              <a:defRPr sz="1800"/>
            </a:pPr>
            <a:r>
              <a:t>• 剩余产能：【XXX】人天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</a:defRPr>
            </a:pPr>
            <a:r>
              <a:t>4. 里程碑与关键节点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关键里程碑：</a:t>
            </a:r>
          </a:p>
          <a:p>
            <a:pPr>
              <a:spcBef>
                <a:spcPts val="1500"/>
              </a:spcBef>
              <a:defRPr sz="2000"/>
            </a:pPr>
            <a:r>
              <a:t>• 【月/日】 - 需求评审完成</a:t>
            </a:r>
          </a:p>
          <a:p>
            <a:pPr>
              <a:spcBef>
                <a:spcPts val="1500"/>
              </a:spcBef>
              <a:defRPr sz="2000"/>
            </a:pPr>
            <a:r>
              <a:t>• 【月/日】 - 技术方案评审</a:t>
            </a:r>
          </a:p>
          <a:p>
            <a:pPr>
              <a:spcBef>
                <a:spcPts val="1500"/>
              </a:spcBef>
              <a:defRPr sz="2000"/>
            </a:pPr>
            <a:r>
              <a:t>• 【月/日】 - 开发完成（转测）</a:t>
            </a:r>
          </a:p>
          <a:p>
            <a:pPr>
              <a:spcBef>
                <a:spcPts val="1500"/>
              </a:spcBef>
              <a:defRPr sz="2000"/>
            </a:pPr>
            <a:r>
              <a:t>• 【月/日】 - 测试完成</a:t>
            </a:r>
          </a:p>
          <a:p>
            <a:pPr>
              <a:spcBef>
                <a:spcPts val="1500"/>
              </a:spcBef>
              <a:defRPr sz="2000"/>
            </a:pPr>
            <a:r>
              <a:t>• 【月/日】 - 上线发布</a:t>
            </a:r>
          </a:p>
          <a:p>
            <a:br/>
            <a:pPr>
              <a:spcBef>
                <a:spcPts val="2000"/>
              </a:spcBef>
              <a:defRPr sz="1600">
                <a:solidFill>
                  <a:srgbClr val="0096D6"/>
                </a:solidFill>
              </a:defRPr>
            </a:pPr>
            <a:r>
              <a:t>【建议在此处添加甘特图或时间线图示】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</a:defRPr>
            </a:pPr>
            <a:r>
              <a:t>5. 风险与应对措施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主要风险：</a:t>
            </a:r>
          </a:p>
          <a:p>
            <a:pPr>
              <a:spcBef>
                <a:spcPts val="1500"/>
              </a:spcBef>
              <a:defRPr sz="1800"/>
            </a:pPr>
            <a:r>
              <a:t>• 风险1：【描述风险内容】</a:t>
            </a:r>
          </a:p>
          <a:p>
            <a:pPr>
              <a:spcBef>
                <a:spcPts val="400"/>
              </a:spcBef>
              <a:defRPr sz="1600">
                <a:solidFill>
                  <a:srgbClr val="0096D6"/>
                </a:solidFill>
              </a:defRPr>
            </a:pPr>
            <a:r>
              <a:t>  应对：【应对措施】</a:t>
            </a:r>
          </a:p>
          <a:p>
            <a:pPr>
              <a:spcBef>
                <a:spcPts val="1500"/>
              </a:spcBef>
              <a:defRPr sz="1800"/>
            </a:pPr>
            <a:r>
              <a:t>• 风险2：【描述风险内容】</a:t>
            </a:r>
          </a:p>
          <a:p>
            <a:pPr>
              <a:spcBef>
                <a:spcPts val="400"/>
              </a:spcBef>
              <a:defRPr sz="1600">
                <a:solidFill>
                  <a:srgbClr val="0096D6"/>
                </a:solidFill>
              </a:defRPr>
            </a:pPr>
            <a:r>
              <a:t>  应对：【应对措施】</a:t>
            </a:r>
          </a:p>
          <a:p>
            <a:pPr>
              <a:spcBef>
                <a:spcPts val="1500"/>
              </a:spcBef>
              <a:defRPr sz="1800"/>
            </a:pPr>
            <a:r>
              <a:t>• 风险3：【描述风险内容】</a:t>
            </a:r>
          </a:p>
          <a:p>
            <a:pPr>
              <a:spcBef>
                <a:spcPts val="400"/>
              </a:spcBef>
              <a:defRPr sz="1600">
                <a:solidFill>
                  <a:srgbClr val="0096D6"/>
                </a:solidFill>
              </a:defRPr>
            </a:pPr>
            <a:r>
              <a:t>  应对：【应对措施】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9B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D6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